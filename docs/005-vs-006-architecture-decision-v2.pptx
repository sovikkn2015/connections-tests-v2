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media/image-10-2.svg" ContentType="image/svg+xml"/>
  <Override PartName="/ppt/media/image-2-10.svg" ContentType="image/svg+xml"/>
  <Override PartName="/ppt/media/image-2-2.svg" ContentType="image/svg+xml"/>
  <Override PartName="/ppt/media/image-2-4.svg" ContentType="image/svg+xml"/>
  <Override PartName="/ppt/media/image-2-6.svg" ContentType="image/svg+xml"/>
  <Override PartName="/ppt/media/image-2-8.svg" ContentType="image/svg+xml"/>
  <Override PartName="/ppt/media/image-5-10.svg" ContentType="image/svg+xml"/>
  <Override PartName="/ppt/media/image-5-2.svg" ContentType="image/svg+xml"/>
  <Override PartName="/ppt/media/image-5-4.svg" ContentType="image/svg+xml"/>
  <Override PartName="/ppt/media/image-5-6.svg" ContentType="image/svg+xml"/>
  <Override PartName="/ppt/media/image-5-8.svg" ContentType="image/svg+xml"/>
  <Override PartName="/ppt/media/image-6-2.svg" ContentType="image/svg+xml"/>
  <Override PartName="/ppt/media/image-6-4.svg" ContentType="image/svg+xml"/>
  <Override PartName="/ppt/media/image-7-10.svg" ContentType="image/svg+xml"/>
  <Override PartName="/ppt/media/image-7-12.svg" ContentType="image/svg+xml"/>
  <Override PartName="/ppt/media/image-7-14.svg" ContentType="image/svg+xml"/>
  <Override PartName="/ppt/media/image-7-16.svg" ContentType="image/svg+xml"/>
  <Override PartName="/ppt/media/image-7-18.svg" ContentType="image/svg+xml"/>
  <Override PartName="/ppt/media/image-7-2.svg" ContentType="image/svg+xml"/>
  <Override PartName="/ppt/media/image-7-20.svg" ContentType="image/svg+xml"/>
  <Override PartName="/ppt/media/image-7-4.svg" ContentType="image/svg+xml"/>
  <Override PartName="/ppt/media/image-7-6.svg" ContentType="image/svg+xml"/>
  <Override PartName="/ppt/media/image-7-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6" r:id="rId17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F36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1A1F36"/>
                </a:solidFill>
                <a:latin typeface="Calibri"/>
              </a:rPr>
              <a:t>Lines of Code by Layer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005</c:v>
                </c:pt>
              </c:strCache>
            </c:strRef>
          </c:tx>
          <c:spPr>
            <a:solidFill>
              <a:srgbClr val="0596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Total Code</c:v>
                  </c:pt>
                  <c:pt idx="1">
                    <c:v>Apex</c:v>
                  </c:pt>
                  <c:pt idx="2">
                    <c:v>Python</c:v>
                  </c:pt>
                  <c:pt idx="3">
                    <c:v>TypeScript</c:v>
                  </c:pt>
                  <c:pt idx="4">
                    <c:v>Config (YAML/JSON/XML)</c:v>
                  </c:pt>
                  <c:pt idx="5">
                    <c:v>Skills (SKILL.md)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16590</c:v>
                </c:pt>
                <c:pt idx="1">
                  <c:v>3971</c:v>
                </c:pt>
                <c:pt idx="2">
                  <c:v>4570</c:v>
                </c:pt>
                <c:pt idx="3">
                  <c:v>3255</c:v>
                </c:pt>
                <c:pt idx="4">
                  <c:v>3830</c:v>
                </c:pt>
                <c:pt idx="5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006</c:v>
                </c:pt>
              </c:strCache>
            </c:strRef>
          </c:tx>
          <c:spPr>
            <a:solidFill>
              <a:srgbClr val="EA580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Total Code</c:v>
                  </c:pt>
                  <c:pt idx="1">
                    <c:v>Apex</c:v>
                  </c:pt>
                  <c:pt idx="2">
                    <c:v>Python</c:v>
                  </c:pt>
                  <c:pt idx="3">
                    <c:v>TypeScript</c:v>
                  </c:pt>
                  <c:pt idx="4">
                    <c:v>Config (YAML/JSON/XML)</c:v>
                  </c:pt>
                  <c:pt idx="5">
                    <c:v>Skills (SKILL.md)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7870</c:v>
                </c:pt>
                <c:pt idx="1">
                  <c:v>0</c:v>
                </c:pt>
                <c:pt idx="2">
                  <c:v>3032</c:v>
                </c:pt>
                <c:pt idx="3">
                  <c:v>2802</c:v>
                </c:pt>
                <c:pt idx="4">
                  <c:v>1744</c:v>
                </c:pt>
                <c:pt idx="5">
                  <c:v>746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D314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A7F9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2D3142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image" Target="../media/image-7-13.png"/><Relationship Id="rId14" Type="http://schemas.openxmlformats.org/officeDocument/2006/relationships/image" Target="../media/image-7-14.svg"/><Relationship Id="rId15" Type="http://schemas.openxmlformats.org/officeDocument/2006/relationships/image" Target="../media/image-7-15.png"/><Relationship Id="rId16" Type="http://schemas.openxmlformats.org/officeDocument/2006/relationships/image" Target="../media/image-7-16.svg"/><Relationship Id="rId17" Type="http://schemas.openxmlformats.org/officeDocument/2006/relationships/image" Target="../media/image-7-17.png"/><Relationship Id="rId18" Type="http://schemas.openxmlformats.org/officeDocument/2006/relationships/image" Target="../media/image-7-18.svg"/><Relationship Id="rId19" Type="http://schemas.openxmlformats.org/officeDocument/2006/relationships/image" Target="../media/image-7-19.png"/><Relationship Id="rId20" Type="http://schemas.openxmlformats.org/officeDocument/2006/relationships/image" Target="../media/image-7-20.sv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0891B2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286000"/>
            <a:ext cx="2743200" cy="2743200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DECISION BRIEF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005 vs 006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Agent Platform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Regulated Financial Services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3520440"/>
            <a:ext cx="3108960" cy="548640"/>
          </a:xfrm>
          <a:prstGeom prst="roundRect">
            <a:avLst>
              <a:gd name="adj" fmla="val 8333"/>
            </a:avLst>
          </a:prstGeom>
          <a:solidFill>
            <a:srgbClr val="059669">
              <a:alpha val="15000"/>
            </a:srgbClr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5204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005: Agentforce + Strands + AWS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0" y="3520440"/>
            <a:ext cx="3291840" cy="548640"/>
          </a:xfrm>
          <a:prstGeom prst="roundRect">
            <a:avLst>
              <a:gd name="adj" fmla="val 8333"/>
            </a:avLst>
          </a:prstGeom>
          <a:solidFill>
            <a:srgbClr val="EA580C">
              <a:alpha val="15000"/>
            </a:srgbClr>
          </a:solidFill>
          <a:ln w="15240">
            <a:solidFill>
              <a:srgbClr val="EA58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0" y="35204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006: OpenClaw + Salesforce + AWS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4389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8, 2026  |  For Executive Decision Makers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Viable Paths, One Strategic Decision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7863840" cy="685800"/>
          </a:xfrm>
          <a:prstGeom prst="roundRect">
            <a:avLst>
              <a:gd name="adj" fmla="val 10667"/>
            </a:avLst>
          </a:prstGeom>
          <a:solidFill>
            <a:srgbClr val="CFFAFE"/>
          </a:solidFill>
          <a:ln/>
        </p:spPr>
      </p:sp>
      <p:pic>
        <p:nvPicPr>
          <p:cNvPr id="5" name="Image 0" descr="icon_0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141732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353312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architectures are production-ready. The choice depends on whether regulatory simplicity or multi-channel innovation drives greater business value for your organization.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0080" y="2240280"/>
            <a:ext cx="37490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8" name="Image 1" descr="icon_1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2960" y="242316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235000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Architectures Evaluated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234440" y="265176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005 (Agentforce-native) prioritizes built-in compliance; 006 (OpenClaw-based) prioritizes flexibility and reach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754880" y="2240280"/>
            <a:ext cx="37490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2" name="Image 2" descr="icon_2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37760" y="242316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349240" y="235000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Decision Factors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5349240" y="265176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enforcement model, channel reach requirements, vendor lock-in tolerance, team capabilities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640080" y="3657600"/>
            <a:ext cx="37490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6" name="Image 3" descr="icon_3.sv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2960" y="3840480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34440" y="376732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Production-Ready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1234440" y="40690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delivers a functional FSI agent platform with different trade-off profiles and risk postures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4754880" y="3657600"/>
            <a:ext cx="37490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20" name="Image 4" descr="icon_4.sv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37760" y="38404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349240" y="376732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Framework Provided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5349240" y="40690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criteria matrix to align architecture choice with your strategic priorities and risk appetite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Each Platform Is Structured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023360" cy="411480"/>
          </a:xfrm>
          <a:prstGeom prst="roundRect">
            <a:avLst>
              <a:gd name="adj" fmla="val 13333"/>
            </a:avLst>
          </a:prstGeom>
          <a:solidFill>
            <a:srgbClr val="05966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344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005: Agentforce + Strands + AWS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4360" y="1737360"/>
            <a:ext cx="3749040" cy="457200"/>
          </a:xfrm>
          <a:prstGeom prst="roundRect">
            <a:avLst>
              <a:gd name="adj" fmla="val 10000"/>
            </a:avLst>
          </a:prstGeom>
          <a:solidFill>
            <a:srgbClr val="E8EDF5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7373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Chat / Slack / API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68880" y="2194560"/>
            <a:ext cx="0" cy="73152"/>
          </a:xfrm>
          <a:prstGeom prst="line">
            <a:avLst/>
          </a:prstGeom>
          <a:noFill/>
          <a:ln w="12700">
            <a:solidFill>
              <a:srgbClr val="7A7F9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2286000"/>
            <a:ext cx="3749040" cy="457200"/>
          </a:xfrm>
          <a:prstGeom prst="roundRect">
            <a:avLst>
              <a:gd name="adj" fmla="val 10000"/>
            </a:avLst>
          </a:prstGeom>
          <a:solidFill>
            <a:srgbClr val="D1FAE5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2860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AGENTFORCE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Reasoning Engine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68880" y="2743200"/>
            <a:ext cx="0" cy="73152"/>
          </a:xfrm>
          <a:prstGeom prst="line">
            <a:avLst/>
          </a:prstGeom>
          <a:noFill/>
          <a:ln w="12700">
            <a:solidFill>
              <a:srgbClr val="7A7F9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834640"/>
            <a:ext cx="37490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8346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ACTIONS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Queries, MCP Callouts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468880" y="3291840"/>
            <a:ext cx="0" cy="73152"/>
          </a:xfrm>
          <a:prstGeom prst="line">
            <a:avLst/>
          </a:prstGeom>
          <a:noFill/>
          <a:ln w="12700">
            <a:solidFill>
              <a:srgbClr val="7A7F9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" y="3383280"/>
            <a:ext cx="37490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3832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AGENTS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Analysis (Lambda)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468880" y="3840480"/>
            <a:ext cx="0" cy="73152"/>
          </a:xfrm>
          <a:prstGeom prst="line">
            <a:avLst/>
          </a:prstGeom>
          <a:noFill/>
          <a:ln w="12700">
            <a:solidFill>
              <a:srgbClr val="7A7F9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" y="3931920"/>
            <a:ext cx="3749040" cy="457200"/>
          </a:xfrm>
          <a:prstGeom prst="roundRect">
            <a:avLst>
              <a:gd name="adj" fmla="val 10000"/>
            </a:avLst>
          </a:prstGeom>
          <a:solidFill>
            <a:srgbClr val="D1FAE5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931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EINSTEIN TRUST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PII, Toxicity, Audit Trail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468880" y="4389120"/>
            <a:ext cx="0" cy="73152"/>
          </a:xfrm>
          <a:prstGeom prst="line">
            <a:avLst/>
          </a:prstGeom>
          <a:noFill/>
          <a:ln w="12700">
            <a:solidFill>
              <a:srgbClr val="7A7F9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4480560"/>
            <a:ext cx="3749040" cy="457200"/>
          </a:xfrm>
          <a:prstGeom prst="roundRect">
            <a:avLst>
              <a:gd name="adj" fmla="val 10000"/>
            </a:avLst>
          </a:prstGeom>
          <a:solidFill>
            <a:srgbClr val="E8EDF5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44805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+ AWS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+ Compute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498348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Platforms  •  ~16,590 Lines of Code  •  5 Channels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09160" y="1234440"/>
            <a:ext cx="4023360" cy="411480"/>
          </a:xfrm>
          <a:prstGeom prst="roundRect">
            <a:avLst>
              <a:gd name="adj" fmla="val 13333"/>
            </a:avLst>
          </a:prstGeom>
          <a:solidFill>
            <a:srgbClr val="EA580C"/>
          </a:solidFill>
          <a:ln/>
        </p:spPr>
      </p:sp>
      <p:sp>
        <p:nvSpPr>
          <p:cNvPr id="25" name="Text 23"/>
          <p:cNvSpPr/>
          <p:nvPr/>
        </p:nvSpPr>
        <p:spPr>
          <a:xfrm>
            <a:off x="4709160" y="12344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006: OpenClaw + Salesforce + AWS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46320" y="1737360"/>
            <a:ext cx="3749040" cy="457200"/>
          </a:xfrm>
          <a:prstGeom prst="roundRect">
            <a:avLst>
              <a:gd name="adj" fmla="val 10000"/>
            </a:avLst>
          </a:prstGeom>
          <a:solidFill>
            <a:srgbClr val="E8EDF5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17373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/ WhatsApp / Telegram / Discord / Web / API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720840" y="2194560"/>
            <a:ext cx="0" cy="73152"/>
          </a:xfrm>
          <a:prstGeom prst="line">
            <a:avLst/>
          </a:prstGeom>
          <a:noFill/>
          <a:ln w="12700">
            <a:solidFill>
              <a:srgbClr val="7A7F9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46320" y="2286000"/>
            <a:ext cx="3749040" cy="457200"/>
          </a:xfrm>
          <a:prstGeom prst="roundRect">
            <a:avLst>
              <a:gd name="adj" fmla="val 10000"/>
            </a:avLst>
          </a:prstGeom>
          <a:solidFill>
            <a:srgbClr val="FFF7ED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22860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GATEWAY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Reasoning + Orchestration (AgentCore)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720840" y="2743200"/>
            <a:ext cx="0" cy="73152"/>
          </a:xfrm>
          <a:prstGeom prst="line">
            <a:avLst/>
          </a:prstGeom>
          <a:noFill/>
          <a:ln w="12700">
            <a:solidFill>
              <a:srgbClr val="7A7F9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46320" y="2834640"/>
            <a:ext cx="37490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28346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&amp; PIPELINE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SF-API / Python Sandbox / AutoResearchClaw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720840" y="3291840"/>
            <a:ext cx="0" cy="73152"/>
          </a:xfrm>
          <a:prstGeom prst="line">
            <a:avLst/>
          </a:prstGeom>
          <a:noFill/>
          <a:ln w="12700">
            <a:solidFill>
              <a:srgbClr val="7A7F9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46320" y="3383280"/>
            <a:ext cx="37490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33832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+ MULESOFT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EDGAR, Market Data, Trade Execution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720840" y="3840480"/>
            <a:ext cx="0" cy="73152"/>
          </a:xfrm>
          <a:prstGeom prst="line">
            <a:avLst/>
          </a:prstGeom>
          <a:noFill/>
          <a:ln w="12700">
            <a:solidFill>
              <a:srgbClr val="7A7F9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46320" y="3931920"/>
            <a:ext cx="3749040" cy="457200"/>
          </a:xfrm>
          <a:prstGeom prst="roundRect">
            <a:avLst>
              <a:gd name="adj" fmla="val 10000"/>
            </a:avLst>
          </a:prstGeom>
          <a:solidFill>
            <a:srgbClr val="FFF7ED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3931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TRUST LAYER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Guardrails + Einstein via SF Models API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720840" y="4389120"/>
            <a:ext cx="0" cy="73152"/>
          </a:xfrm>
          <a:prstGeom prst="line">
            <a:avLst/>
          </a:prstGeom>
          <a:noFill/>
          <a:ln w="12700">
            <a:solidFill>
              <a:srgbClr val="7A7F9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46320" y="4480560"/>
            <a:ext cx="3749040" cy="457200"/>
          </a:xfrm>
          <a:prstGeom prst="roundRect">
            <a:avLst>
              <a:gd name="adj" fmla="val 10000"/>
            </a:avLst>
          </a:prstGeom>
          <a:solidFill>
            <a:srgbClr val="E8EDF5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0" y="44805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+ AWS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+ Audit + Compute + LLM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709160" y="498348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Platforms  •  ~7,870 Lines of Code  •  12+ Channels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526280" y="1325880"/>
            <a:ext cx="0" cy="3794760"/>
          </a:xfrm>
          <a:prstGeom prst="line">
            <a:avLst/>
          </a:prstGeom>
          <a:noFill/>
          <a:ln w="12700">
            <a:solidFill>
              <a:srgbClr val="D1D5DB"/>
            </a:solidFill>
            <a:prstDash val="dash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COMPARISON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Feature-by-Feature Breakdown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560320"/>
                <a:gridCol w="2560320"/>
                <a:gridCol w="82296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005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006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 Reach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channels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(Web, Slack, Messaging, Voice, API)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12+ channels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(+WhatsApp, Telegram, Discord, iMessage)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A58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 Pipeline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topics &amp; actions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23-stage AutoResearchClaw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 HITL, self-healing, debate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A58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Financial Analysis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Separate Strands agents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Lambda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Integrated Python sandbox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(numpy, pandas, scipy)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A58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&amp; Learning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Session-only context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(no cross-session memory)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Persistent per-user memory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 cross-session learning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A58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CRM Depth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SOQL, CdpQuery,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Cloud vector search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API only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(loses native CRM features)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Trust &amp; Compliance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Einstein Trust Layer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(integrated, automatic)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Dual layer: Bedrock Guardrails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Einstein via API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Independence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Locked to Salesforce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(proprietary Apex + bundles)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MIT-licensed OpenClaw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(fully portable)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A58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572000"/>
            <a:ext cx="8229600" cy="365760"/>
          </a:xfrm>
          <a:prstGeom prst="roundRect">
            <a:avLst>
              <a:gd name="adj" fmla="val 12500"/>
            </a:avLst>
          </a:prstGeom>
          <a:solidFill>
            <a:srgbClr val="CFFAFE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006 leads on capability breadth (5 of 7 categories)  •  005 leads on compliance depth and CRM integration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SECURITY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Critical Differentiator for FSI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31920" cy="365760"/>
          </a:xfrm>
          <a:prstGeom prst="roundRect">
            <a:avLst>
              <a:gd name="adj" fmla="val 15000"/>
            </a:avLst>
          </a:prstGeom>
          <a:solidFill>
            <a:srgbClr val="05966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005 BUILT-IN COMPLIANCE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374904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7" name="Image 0" descr="icon_5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5800" y="1920240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8288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Einstein Trust Layer covers PII masking, toxicity detection, and audit trail automatically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48640" y="2468880"/>
            <a:ext cx="374904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0" name="Image 1" descr="icon_6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5800" y="2606040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51560" y="25146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and MNPI controls enforced in compiled Apex code — not prompt-based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548640" y="3154680"/>
            <a:ext cx="374904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3" name="Image 2" descr="icon_7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5800" y="3291840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51560" y="32004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sharing rules, field-level security, and permission sets apply to all agent actions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548640" y="3840480"/>
            <a:ext cx="374904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6" name="Image 3" descr="icon_8.sv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5800" y="3977640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51560" y="38862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integrated compliance layer — one system to audit, one vendor responsible</a:t>
            </a:r>
            <a:endParaRPr lang="en-US" sz="950" dirty="0"/>
          </a:p>
        </p:txBody>
      </p:sp>
      <p:sp>
        <p:nvSpPr>
          <p:cNvPr id="18" name="Shape 12"/>
          <p:cNvSpPr/>
          <p:nvPr/>
        </p:nvSpPr>
        <p:spPr>
          <a:xfrm>
            <a:off x="4754880" y="1280160"/>
            <a:ext cx="3931920" cy="365760"/>
          </a:xfrm>
          <a:prstGeom prst="roundRect">
            <a:avLst>
              <a:gd name="adj" fmla="val 15000"/>
            </a:avLst>
          </a:prstGeom>
          <a:solidFill>
            <a:srgbClr val="DC2626"/>
          </a:solidFill>
          <a:ln/>
        </p:spPr>
      </p:sp>
      <p:sp>
        <p:nvSpPr>
          <p:cNvPr id="19" name="Text 13"/>
          <p:cNvSpPr/>
          <p:nvPr/>
        </p:nvSpPr>
        <p:spPr>
          <a:xfrm>
            <a:off x="4754880" y="12801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006 SECURITY AUDIT FINDINGS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4846320" y="1783080"/>
            <a:ext cx="3749040" cy="594360"/>
          </a:xfrm>
          <a:prstGeom prst="roundRect">
            <a:avLst>
              <a:gd name="adj" fmla="val 9231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4937760" y="1920240"/>
            <a:ext cx="411480" cy="256032"/>
          </a:xfrm>
          <a:prstGeom prst="roundRect">
            <a:avLst>
              <a:gd name="adj" fmla="val 14286"/>
            </a:avLst>
          </a:prstGeom>
          <a:solidFill>
            <a:srgbClr val="DC262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F#7</a:t>
            </a:r>
            <a:endParaRPr lang="en-US" sz="800" dirty="0"/>
          </a:p>
        </p:txBody>
      </p:sp>
      <p:sp>
        <p:nvSpPr>
          <p:cNvPr id="22" name="Text 16"/>
          <p:cNvSpPr/>
          <p:nvPr/>
        </p:nvSpPr>
        <p:spPr>
          <a:xfrm>
            <a:off x="5440680" y="18288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MNPI filtering is prompt-based — LLM instructions, not compiled enforcement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4846320" y="2468880"/>
            <a:ext cx="3749040" cy="594360"/>
          </a:xfrm>
          <a:prstGeom prst="roundRect">
            <a:avLst>
              <a:gd name="adj" fmla="val 9231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4937760" y="2606040"/>
            <a:ext cx="411480" cy="256032"/>
          </a:xfrm>
          <a:prstGeom prst="roundRect">
            <a:avLst>
              <a:gd name="adj" fmla="val 14286"/>
            </a:avLst>
          </a:prstGeom>
          <a:solidFill>
            <a:srgbClr val="DC262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F#13</a:t>
            </a:r>
            <a:endParaRPr lang="en-US" sz="800" dirty="0"/>
          </a:p>
        </p:txBody>
      </p:sp>
      <p:sp>
        <p:nvSpPr>
          <p:cNvPr id="25" name="Text 19"/>
          <p:cNvSpPr/>
          <p:nvPr/>
        </p:nvSpPr>
        <p:spPr>
          <a:xfrm>
            <a:off x="5440680" y="25146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gates rely on LLM following SKILL.md instructions to pause for approval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4846320" y="3154680"/>
            <a:ext cx="3749040" cy="594360"/>
          </a:xfrm>
          <a:prstGeom prst="roundRect">
            <a:avLst>
              <a:gd name="adj" fmla="val 9231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4937760" y="3291840"/>
            <a:ext cx="411480" cy="256032"/>
          </a:xfrm>
          <a:prstGeom prst="roundRect">
            <a:avLst>
              <a:gd name="adj" fmla="val 14286"/>
            </a:avLst>
          </a:prstGeom>
          <a:solidFill>
            <a:srgbClr val="DC262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F#2</a:t>
            </a:r>
            <a:endParaRPr lang="en-US" sz="800" dirty="0"/>
          </a:p>
        </p:txBody>
      </p:sp>
      <p:sp>
        <p:nvSpPr>
          <p:cNvPr id="28" name="Text 22"/>
          <p:cNvSpPr/>
          <p:nvPr/>
        </p:nvSpPr>
        <p:spPr>
          <a:xfrm>
            <a:off x="5440680" y="32004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bearer token bundled into frontend JavaScript — exposed in browser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4846320" y="3840480"/>
            <a:ext cx="3749040" cy="594360"/>
          </a:xfrm>
          <a:prstGeom prst="roundRect">
            <a:avLst>
              <a:gd name="adj" fmla="val 9231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4937760" y="3977640"/>
            <a:ext cx="411480" cy="256032"/>
          </a:xfrm>
          <a:prstGeom prst="roundRect">
            <a:avLst>
              <a:gd name="adj" fmla="val 14286"/>
            </a:avLst>
          </a:prstGeom>
          <a:solidFill>
            <a:srgbClr val="DC262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F#12</a:t>
            </a:r>
            <a:endParaRPr lang="en-US" sz="800" dirty="0"/>
          </a:p>
        </p:txBody>
      </p:sp>
      <p:sp>
        <p:nvSpPr>
          <p:cNvPr id="31" name="Text 25"/>
          <p:cNvSpPr/>
          <p:nvPr/>
        </p:nvSpPr>
        <p:spPr>
          <a:xfrm>
            <a:off x="5440680" y="38862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memory without encryption or integrity checks — poisoning risk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457200" y="434340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FEF3C7"/>
          </a:solidFill>
          <a:ln/>
        </p:spPr>
      </p:sp>
      <p:pic>
        <p:nvPicPr>
          <p:cNvPr id="33" name="Image 4" descr="icon_9.sv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0080" y="4462272"/>
            <a:ext cx="274320" cy="27432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051560" y="4370832"/>
            <a:ext cx="7452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006 shifts compliance from platform-enforced to team-implemented. This means additional development, testing, and audit cost that 005 avoids entirely.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TRADE-OFFS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Core Trade-off: Safety vs Flexibility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7680960" cy="411480"/>
          </a:xfrm>
          <a:prstGeom prst="roundRect">
            <a:avLst>
              <a:gd name="adj" fmla="val 22222"/>
            </a:avLst>
          </a:prstGeom>
          <a:solidFill>
            <a:srgbClr val="3D4463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463040"/>
            <a:ext cx="3686861" cy="411480"/>
          </a:xfrm>
          <a:prstGeom prst="roundRect">
            <a:avLst>
              <a:gd name="adj" fmla="val 22222"/>
            </a:avLst>
          </a:prstGeom>
          <a:solidFill>
            <a:srgbClr val="059669"/>
          </a:solidFill>
          <a:ln/>
        </p:spPr>
      </p:sp>
      <p:sp>
        <p:nvSpPr>
          <p:cNvPr id="6" name="Shape 4"/>
          <p:cNvSpPr/>
          <p:nvPr/>
        </p:nvSpPr>
        <p:spPr>
          <a:xfrm>
            <a:off x="4725619" y="1463040"/>
            <a:ext cx="3686861" cy="411480"/>
          </a:xfrm>
          <a:prstGeom prst="roundRect">
            <a:avLst>
              <a:gd name="adj" fmla="val 22222"/>
            </a:avLst>
          </a:prstGeom>
          <a:solidFill>
            <a:srgbClr val="EA580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463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FIRST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0" y="1463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FLEXIBILITY FIRST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21331" y="1965960"/>
            <a:ext cx="457200" cy="292608"/>
          </a:xfrm>
          <a:prstGeom prst="ellipse">
            <a:avLst/>
          </a:prstGeom>
          <a:solidFill>
            <a:srgbClr val="05966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005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61811" y="1965960"/>
            <a:ext cx="457200" cy="292608"/>
          </a:xfrm>
          <a:prstGeom prst="ellipse">
            <a:avLst/>
          </a:prstGeom>
          <a:solidFill>
            <a:srgbClr val="EA580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006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331720"/>
            <a:ext cx="3794760" cy="2423160"/>
          </a:xfrm>
          <a:prstGeom prst="roundRect">
            <a:avLst>
              <a:gd name="adj" fmla="val 3774"/>
            </a:avLst>
          </a:prstGeom>
          <a:solidFill>
            <a:srgbClr val="059669">
              <a:alpha val="15000"/>
            </a:srgbClr>
          </a:solidFill>
          <a:ln w="19050">
            <a:solidFill>
              <a:srgbClr val="059669"/>
            </a:solidFill>
            <a:prstDash val="solid"/>
          </a:ln>
        </p:spPr>
      </p:sp>
      <p:pic>
        <p:nvPicPr>
          <p:cNvPr id="12" name="Image 0" descr="icon_10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68680" y="2514600"/>
            <a:ext cx="320040" cy="32004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325880" y="24963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005: Safety First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68680" y="2971800"/>
            <a:ext cx="3337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compliance — zero custom security code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Salesforce support on agent layer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platforms (2) — simpler to operate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regulatory approval pathway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Limited channels, vendor lock-in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754880" y="2331720"/>
            <a:ext cx="3794760" cy="2423160"/>
          </a:xfrm>
          <a:prstGeom prst="roundRect">
            <a:avLst>
              <a:gd name="adj" fmla="val 3774"/>
            </a:avLst>
          </a:prstGeom>
          <a:solidFill>
            <a:srgbClr val="EA580C">
              <a:alpha val="15000"/>
            </a:srgbClr>
          </a:solidFill>
          <a:ln w="19050">
            <a:solidFill>
              <a:srgbClr val="EA580C"/>
            </a:solidFill>
            <a:prstDash val="solid"/>
          </a:ln>
        </p:spPr>
      </p:sp>
      <p:pic>
        <p:nvPicPr>
          <p:cNvPr id="16" name="Image 1" descr="icon_11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83480" y="2514600"/>
            <a:ext cx="320040" cy="3200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440680" y="24963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58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006: Flexibility First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4983480" y="2971800"/>
            <a:ext cx="3337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12+ channels — meet users wherever they are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23-stage research pipeline (unmatched)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MIT-licensed, fully portable, no lock-in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pay-per-use on AgentCore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Must build compliance controls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FRAMEWORK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Match Your Priorities to the Right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93192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3931920" cy="4572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005 IF...</a:t>
            </a:r>
            <a:endParaRPr lang="en-US" sz="1300" dirty="0"/>
          </a:p>
        </p:txBody>
      </p:sp>
      <p:pic>
        <p:nvPicPr>
          <p:cNvPr id="7" name="Image 0" descr="icon_12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5800" y="1874520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82880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CRM-centric workflows dominate your use cases</a:t>
            </a:r>
            <a:endParaRPr lang="en-US" sz="1100" dirty="0"/>
          </a:p>
        </p:txBody>
      </p:sp>
      <p:pic>
        <p:nvPicPr>
          <p:cNvPr id="9" name="Image 1" descr="icon_13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5800" y="2331720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05840" y="228600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audit simplicity is critical priority</a:t>
            </a:r>
            <a:endParaRPr lang="en-US" sz="1100" dirty="0"/>
          </a:p>
        </p:txBody>
      </p:sp>
      <p:pic>
        <p:nvPicPr>
          <p:cNvPr id="11" name="Image 2" descr="icon_14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5800" y="2788920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05840" y="274320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Minimizing custom security code is essential</a:t>
            </a:r>
            <a:endParaRPr lang="en-US" sz="1100" dirty="0"/>
          </a:p>
        </p:txBody>
      </p:sp>
      <p:pic>
        <p:nvPicPr>
          <p:cNvPr id="13" name="Image 3" descr="icon_15.sv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5800" y="3246120"/>
            <a:ext cx="201168" cy="2011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05840" y="320040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support on agent layer is required</a:t>
            </a:r>
            <a:endParaRPr lang="en-US" sz="1100" dirty="0"/>
          </a:p>
        </p:txBody>
      </p:sp>
      <p:pic>
        <p:nvPicPr>
          <p:cNvPr id="15" name="Image 4" descr="icon_16.sv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5800" y="3703320"/>
            <a:ext cx="201168" cy="20116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05840" y="365760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expertise is primarily Salesforce-focused</a:t>
            </a:r>
            <a:endParaRPr lang="en-US" sz="1100" dirty="0"/>
          </a:p>
        </p:txBody>
      </p:sp>
      <p:sp>
        <p:nvSpPr>
          <p:cNvPr id="17" name="Shape 10"/>
          <p:cNvSpPr/>
          <p:nvPr/>
        </p:nvSpPr>
        <p:spPr>
          <a:xfrm>
            <a:off x="4754880" y="1234440"/>
            <a:ext cx="393192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25400">
            <a:solidFill>
              <a:srgbClr val="EA580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1"/>
          <p:cNvSpPr/>
          <p:nvPr/>
        </p:nvSpPr>
        <p:spPr>
          <a:xfrm>
            <a:off x="4754880" y="1234440"/>
            <a:ext cx="3931920" cy="45720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9" name="Text 12"/>
          <p:cNvSpPr/>
          <p:nvPr/>
        </p:nvSpPr>
        <p:spPr>
          <a:xfrm>
            <a:off x="4754880" y="12344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006 IF...</a:t>
            </a:r>
            <a:endParaRPr lang="en-US" sz="1300" dirty="0"/>
          </a:p>
        </p:txBody>
      </p:sp>
      <p:pic>
        <p:nvPicPr>
          <p:cNvPr id="20" name="Image 5" descr="icon_17.sv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983480" y="1874520"/>
            <a:ext cx="201168" cy="20116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303520" y="182880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Multi-channel reach (WhatsApp, Telegram) is strategic</a:t>
            </a:r>
            <a:endParaRPr lang="en-US" sz="1100" dirty="0"/>
          </a:p>
        </p:txBody>
      </p:sp>
      <p:pic>
        <p:nvPicPr>
          <p:cNvPr id="22" name="Image 6" descr="icon_18.sv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983480" y="2331720"/>
            <a:ext cx="201168" cy="201168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303520" y="228600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research automation drives core value</a:t>
            </a:r>
            <a:endParaRPr lang="en-US" sz="1100" dirty="0"/>
          </a:p>
        </p:txBody>
      </p:sp>
      <p:pic>
        <p:nvPicPr>
          <p:cNvPr id="24" name="Image 7" descr="icon_19.sv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983480" y="2788920"/>
            <a:ext cx="201168" cy="201168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5303520" y="274320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Avoiding vendor lock-in is a board-level concern</a:t>
            </a:r>
            <a:endParaRPr lang="en-US" sz="1100" dirty="0"/>
          </a:p>
        </p:txBody>
      </p:sp>
      <p:pic>
        <p:nvPicPr>
          <p:cNvPr id="26" name="Image 8" descr="icon_20.sv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983480" y="3246120"/>
            <a:ext cx="201168" cy="201168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5303520" y="320040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has capacity for custom security implementation</a:t>
            </a:r>
            <a:endParaRPr lang="en-US" sz="1100" dirty="0"/>
          </a:p>
        </p:txBody>
      </p:sp>
      <p:pic>
        <p:nvPicPr>
          <p:cNvPr id="28" name="Image 9" descr="icon_21.sv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983480" y="3703320"/>
            <a:ext cx="201168" cy="201168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5303520" y="365760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Python-based financial modeling in-agent is needed</a:t>
            </a:r>
            <a:endParaRPr lang="en-US" sz="1100" dirty="0"/>
          </a:p>
        </p:txBody>
      </p:sp>
      <p:sp>
        <p:nvSpPr>
          <p:cNvPr id="30" name="Shape 18"/>
          <p:cNvSpPr/>
          <p:nvPr/>
        </p:nvSpPr>
        <p:spPr>
          <a:xfrm>
            <a:off x="457200" y="443484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CFFAFE"/>
          </a:solidFill>
          <a:ln/>
        </p:spPr>
      </p:sp>
      <p:sp>
        <p:nvSpPr>
          <p:cNvPr id="31" name="Text 19"/>
          <p:cNvSpPr/>
          <p:nvPr/>
        </p:nvSpPr>
        <p:spPr>
          <a:xfrm>
            <a:off x="640080" y="44348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Deciding Question: Does the value of 12+ channels and a 23-stage research pipeline justify the cost of rebuilding the compliance enforcement that Salesforce provides natively?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COMPLEXITY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Total Cost of Ownership Considerations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234440"/>
          <a:ext cx="48463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486400" y="1234440"/>
            <a:ext cx="33832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623560" y="128016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LICENSING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623560" y="1527048"/>
            <a:ext cx="109728" cy="10972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8" name="Text 5"/>
          <p:cNvSpPr/>
          <p:nvPr/>
        </p:nvSpPr>
        <p:spPr>
          <a:xfrm>
            <a:off x="5806440" y="1490472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AI consumption credits — can be significant at scale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623560" y="1764792"/>
            <a:ext cx="109728" cy="109728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0" name="Text 7"/>
          <p:cNvSpPr/>
          <p:nvPr/>
        </p:nvSpPr>
        <p:spPr>
          <a:xfrm>
            <a:off x="5806440" y="1728216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pay-per-use on AgentCore — zero idle cost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5486400" y="2148840"/>
            <a:ext cx="33832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623560" y="219456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BUILD COST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5623560" y="2441448"/>
            <a:ext cx="109728" cy="10972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4" name="Text 11"/>
          <p:cNvSpPr/>
          <p:nvPr/>
        </p:nvSpPr>
        <p:spPr>
          <a:xfrm>
            <a:off x="5806440" y="2404872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— compliance is built into the platform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5623560" y="2679192"/>
            <a:ext cx="109728" cy="109728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6" name="Text 13"/>
          <p:cNvSpPr/>
          <p:nvPr/>
        </p:nvSpPr>
        <p:spPr>
          <a:xfrm>
            <a:off x="5806440" y="2642616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— must implement and audit custom controls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5486400" y="3063240"/>
            <a:ext cx="33832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623560" y="310896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COMPLEXITY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623560" y="3355848"/>
            <a:ext cx="109728" cy="10972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0" name="Text 17"/>
          <p:cNvSpPr/>
          <p:nvPr/>
        </p:nvSpPr>
        <p:spPr>
          <a:xfrm>
            <a:off x="5806440" y="3319272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platforms to manage, monitor, and support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5623560" y="3593592"/>
            <a:ext cx="109728" cy="109728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22" name="Text 19"/>
          <p:cNvSpPr/>
          <p:nvPr/>
        </p:nvSpPr>
        <p:spPr>
          <a:xfrm>
            <a:off x="5806440" y="3557016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platforms (OpenClaw, SF, AWS, MuleSoft) to integrate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5486400" y="3977640"/>
            <a:ext cx="33832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5623560" y="402336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SKILLS NEEDED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5623560" y="4270248"/>
            <a:ext cx="109728" cy="10972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6" name="Text 23"/>
          <p:cNvSpPr/>
          <p:nvPr/>
        </p:nvSpPr>
        <p:spPr>
          <a:xfrm>
            <a:off x="5806440" y="4233672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+ Python + TypeScript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5623560" y="4507992"/>
            <a:ext cx="109728" cy="109728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28" name="Text 25"/>
          <p:cNvSpPr/>
          <p:nvPr/>
        </p:nvSpPr>
        <p:spPr>
          <a:xfrm>
            <a:off x="5806440" y="4471416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+ Python + Apex + AWS infra (broader)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Risks for Each Path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84124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640080"/>
                <a:gridCol w="2926080"/>
                <a:gridCol w="82296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lock-in limits future flexibility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Rewrite required if moving off Salesforce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channel expansion path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Cannot reach WhatsApp/Telegram users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agent runtimes to maintain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ops complexity, debug difficulty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audit findings need remediation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critical findings before production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Four-platform integration complexity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failure points, broader expertise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Prompt-based compliance enforcement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MNPI &amp; HITL rely on LLM behavior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poisoning (no encryption)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Cross-session data integrity at risk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governance gap (no RBAC)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permission set equivalent at agent layer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4572000"/>
            <a:ext cx="8412480" cy="411480"/>
          </a:xfrm>
          <a:prstGeom prst="roundRect">
            <a:avLst>
              <a:gd name="adj" fmla="val 13333"/>
            </a:avLst>
          </a:prstGeom>
          <a:solidFill>
            <a:srgbClr val="FEF3C7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45720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005 carries 3 risks (1 High)  •  006 carries 5 risks (3 High)  —  006 requires more pre-production remediation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0891B2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457200"/>
            <a:ext cx="2743200" cy="2743200"/>
          </a:xfrm>
          <a:prstGeom prst="ellipse">
            <a:avLst/>
          </a:prstGeom>
          <a:solidFill>
            <a:srgbClr val="0891B2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0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Suggested Path Forward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8046720" cy="777240"/>
          </a:xfrm>
          <a:prstGeom prst="roundRect">
            <a:avLst>
              <a:gd name="adj" fmla="val 11765"/>
            </a:avLst>
          </a:prstGeom>
          <a:solidFill>
            <a:srgbClr val="0891B2">
              <a:alpha val="20000"/>
            </a:srgbClr>
          </a:solidFill>
          <a:ln w="19050">
            <a:solidFill>
              <a:srgbClr val="0891B2"/>
            </a:solidFill>
            <a:prstDash val="solid"/>
          </a:ln>
        </p:spPr>
      </p:sp>
      <p:pic>
        <p:nvPicPr>
          <p:cNvPr id="7" name="Image 0" descr="icon_22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7240" y="14630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37160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architectures are viable. We recommend a phased pilot approach to validate fit before full commitment.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0080" y="2377440"/>
            <a:ext cx="2468880" cy="2103120"/>
          </a:xfrm>
          <a:prstGeom prst="roundRect">
            <a:avLst>
              <a:gd name="adj" fmla="val 4348"/>
            </a:avLst>
          </a:prstGeom>
          <a:solidFill>
            <a:srgbClr val="FFFFFF">
              <a:alpha val="8000"/>
            </a:srgbClr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2514600"/>
            <a:ext cx="365760" cy="365760"/>
          </a:xfrm>
          <a:prstGeom prst="ellipse">
            <a:avLst/>
          </a:prstGeom>
          <a:solidFill>
            <a:srgbClr val="05966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234440" y="254203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with 005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77240" y="3017520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for compliance-critical, CRM-centric use cases where regulatory audit simplicity is paramount. Leverage native trust layer.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154680" y="3429000"/>
            <a:ext cx="228600" cy="0"/>
          </a:xfrm>
          <a:prstGeom prst="line">
            <a:avLst/>
          </a:prstGeom>
          <a:noFill/>
          <a:ln w="19050">
            <a:solidFill>
              <a:srgbClr val="7A7F96"/>
            </a:solidFill>
            <a:prstDash val="solid"/>
            <a:tailEnd type="arrow"/>
          </a:ln>
        </p:spPr>
      </p:sp>
      <p:sp>
        <p:nvSpPr>
          <p:cNvPr id="14" name="Shape 11"/>
          <p:cNvSpPr/>
          <p:nvPr/>
        </p:nvSpPr>
        <p:spPr>
          <a:xfrm>
            <a:off x="3429000" y="2377440"/>
            <a:ext cx="2468880" cy="2103120"/>
          </a:xfrm>
          <a:prstGeom prst="roundRect">
            <a:avLst>
              <a:gd name="adj" fmla="val 4348"/>
            </a:avLst>
          </a:prstGeom>
          <a:solidFill>
            <a:srgbClr val="FFFFFF">
              <a:alpha val="8000"/>
            </a:srgbClr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566160" y="2514600"/>
            <a:ext cx="365760" cy="365760"/>
          </a:xfrm>
          <a:prstGeom prst="ellipse">
            <a:avLst/>
          </a:prstGeom>
          <a:solidFill>
            <a:srgbClr val="EA580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4023360" y="254203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58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Evaluate 006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3566160" y="3017520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for innovation channels (WhatsApp, Telegram) and research automation. Remediate security findings before production.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943600" y="3429000"/>
            <a:ext cx="228600" cy="0"/>
          </a:xfrm>
          <a:prstGeom prst="line">
            <a:avLst/>
          </a:prstGeom>
          <a:noFill/>
          <a:ln w="19050">
            <a:solidFill>
              <a:srgbClr val="7A7F96"/>
            </a:solidFill>
            <a:prstDash val="solid"/>
            <a:tailEnd type="arrow"/>
          </a:ln>
        </p:spPr>
      </p:sp>
      <p:sp>
        <p:nvSpPr>
          <p:cNvPr id="19" name="Shape 16"/>
          <p:cNvSpPr/>
          <p:nvPr/>
        </p:nvSpPr>
        <p:spPr>
          <a:xfrm>
            <a:off x="6217920" y="2377440"/>
            <a:ext cx="2468880" cy="2103120"/>
          </a:xfrm>
          <a:prstGeom prst="roundRect">
            <a:avLst>
              <a:gd name="adj" fmla="val 4348"/>
            </a:avLst>
          </a:prstGeom>
          <a:solidFill>
            <a:srgbClr val="FFFFFF">
              <a:alpha val="8000"/>
            </a:srgbClr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55080" y="251460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6812280" y="254203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Converge or Coexist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6355080" y="3017520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pilot results, commit to one platform or run both for different use case segments within the organization.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40080" y="47091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Timeline: Phase 1 (Weeks 1-8)  →  Phase 2 (Weeks 6-14, overlapping)  →  Decision Point (Week 16)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PATTERNS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Multi-Agent Patterns: Infrastructure vs Prompt Level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1828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932688"/>
            <a:ext cx="3931920" cy="3182112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32688"/>
            <a:ext cx="3931920" cy="329184"/>
          </a:xfrm>
          <a:prstGeom prst="rect">
            <a:avLst/>
          </a:prstGeom>
          <a:solidFill>
            <a:srgbClr val="FFF7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6926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005: Infrastructure-Level Agents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1353312"/>
            <a:ext cx="1508760" cy="1280160"/>
          </a:xfrm>
          <a:prstGeom prst="roundRect">
            <a:avLst>
              <a:gd name="adj" fmla="val 3571"/>
            </a:avLst>
          </a:prstGeom>
          <a:solidFill>
            <a:srgbClr val="FFF7ED"/>
          </a:solidFill>
          <a:ln w="9525">
            <a:solidFill>
              <a:srgbClr val="EA580C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548640" y="137160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ORG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594360" y="1591056"/>
            <a:ext cx="132588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A580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1609344"/>
            <a:ext cx="12618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Agentforce
</a:t>
            </a:r>
            <a:pPr algn="ctr" indent="0" marL="0">
              <a:buNone/>
            </a:pPr>
            <a:r>
              <a:rPr lang="en-US" sz="65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(Apex / Atlas Engine)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94360" y="2139696"/>
            <a:ext cx="1325880" cy="402336"/>
          </a:xfrm>
          <a:prstGeom prst="roundRect">
            <a:avLst>
              <a:gd name="adj" fmla="val 9091"/>
            </a:avLst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157984"/>
            <a:ext cx="1261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Data
</a:t>
            </a:r>
            <a:pPr algn="ctr" indent="0" marL="0">
              <a:buNone/>
            </a:pPr>
            <a:r>
              <a:rPr lang="en-US" sz="6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SOQL · FLS · Sharing Rules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2121408" y="1444752"/>
            <a:ext cx="347472" cy="109728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03120" y="1719072"/>
            <a:ext cx="365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</a:t>
            </a:r>
            <a:endParaRPr lang="en-US" sz="550" dirty="0"/>
          </a:p>
        </p:txBody>
      </p:sp>
      <p:sp>
        <p:nvSpPr>
          <p:cNvPr id="16" name="Text 14"/>
          <p:cNvSpPr/>
          <p:nvPr/>
        </p:nvSpPr>
        <p:spPr>
          <a:xfrm>
            <a:off x="2103120" y="1847088"/>
            <a:ext cx="365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03120" y="2103120"/>
            <a:ext cx="365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</a:t>
            </a:r>
            <a:endParaRPr lang="en-US" sz="550" dirty="0"/>
          </a:p>
        </p:txBody>
      </p:sp>
      <p:sp>
        <p:nvSpPr>
          <p:cNvPr id="18" name="Text 16"/>
          <p:cNvSpPr/>
          <p:nvPr/>
        </p:nvSpPr>
        <p:spPr>
          <a:xfrm>
            <a:off x="2103120" y="2231136"/>
            <a:ext cx="365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0" y="1353312"/>
            <a:ext cx="1508760" cy="1280160"/>
          </a:xfrm>
          <a:prstGeom prst="roundRect">
            <a:avLst>
              <a:gd name="adj" fmla="val 3571"/>
            </a:avLst>
          </a:prstGeom>
          <a:solidFill>
            <a:srgbClr val="D1FAE5"/>
          </a:solidFill>
          <a:ln w="9525">
            <a:solidFill>
              <a:srgbClr val="059669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2606040" y="137160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(Lambda)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2651760" y="1591056"/>
            <a:ext cx="132588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79192" y="1609344"/>
            <a:ext cx="12618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Analysis
</a:t>
            </a:r>
            <a:pPr algn="ctr" indent="0" marL="0">
              <a:buNone/>
            </a:pPr>
            <a:r>
              <a:rPr lang="en-US" sz="6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(Strands/Lambda)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651760" y="2139696"/>
            <a:ext cx="1325880" cy="40233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79192" y="2157984"/>
            <a:ext cx="1261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
</a:t>
            </a:r>
            <a:pPr algn="ctr" indent="0" marL="0">
              <a:buNone/>
            </a:pPr>
            <a:r>
              <a:rPr lang="en-US" sz="6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(Strands/Lambda)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02920" y="2761488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Agents  ·  2 Runtimes  ·  HTTP Boundaries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502920" y="2980944"/>
            <a:ext cx="960120" cy="365760"/>
          </a:xfrm>
          <a:prstGeom prst="roundRect">
            <a:avLst>
              <a:gd name="adj" fmla="val 10000"/>
            </a:avLst>
          </a:prstGeom>
          <a:solidFill>
            <a:srgbClr val="FFF7ED"/>
          </a:solidFill>
          <a:ln w="6350">
            <a:solidFill>
              <a:srgbClr val="EA580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2999232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
</a:t>
            </a:r>
            <a:pPr algn="ctr" indent="0" marL="0">
              <a:buNone/>
            </a:pPr>
            <a:r>
              <a:rPr lang="en-US" sz="55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Agentforce (Apex)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1481328" y="3054096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 →</a:t>
            </a:r>
            <a:endParaRPr lang="en-US" sz="600" dirty="0"/>
          </a:p>
        </p:txBody>
      </p:sp>
      <p:sp>
        <p:nvSpPr>
          <p:cNvPr id="29" name="Shape 27"/>
          <p:cNvSpPr/>
          <p:nvPr/>
        </p:nvSpPr>
        <p:spPr>
          <a:xfrm>
            <a:off x="2048256" y="2980944"/>
            <a:ext cx="960120" cy="365760"/>
          </a:xfrm>
          <a:prstGeom prst="roundRect">
            <a:avLst>
              <a:gd name="adj" fmla="val 10000"/>
            </a:avLst>
          </a:prstGeom>
          <a:solidFill>
            <a:srgbClr val="D1FAE5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48256" y="2999232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
</a:t>
            </a:r>
            <a:pPr algn="ctr" indent="0" marL="0">
              <a:buNone/>
            </a:pPr>
            <a:r>
              <a:rPr lang="en-US" sz="55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(Python)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3026664" y="3054096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 →</a:t>
            </a:r>
            <a:endParaRPr lang="en-US" sz="600" dirty="0"/>
          </a:p>
        </p:txBody>
      </p:sp>
      <p:sp>
        <p:nvSpPr>
          <p:cNvPr id="32" name="Shape 30"/>
          <p:cNvSpPr/>
          <p:nvPr/>
        </p:nvSpPr>
        <p:spPr>
          <a:xfrm>
            <a:off x="3593592" y="2980944"/>
            <a:ext cx="960120" cy="365760"/>
          </a:xfrm>
          <a:prstGeom prst="roundRect">
            <a:avLst>
              <a:gd name="adj" fmla="val 10000"/>
            </a:avLst>
          </a:prstGeom>
          <a:solidFill>
            <a:srgbClr val="D1FAE5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93592" y="2999232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3
</a:t>
            </a:r>
            <a:pPr algn="ctr" indent="0" marL="0">
              <a:buNone/>
            </a:pPr>
            <a:r>
              <a:rPr lang="en-US" sz="55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(Python)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502920" y="3419856"/>
            <a:ext cx="3611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Separate deployments, independent failure
</a:t>
            </a:r>
            <a:pPr algn="l"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HTTP latency ~100-500ms per call
</a:t>
            </a:r>
            <a:pPr algn="l"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Each agent scales independently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4892040" y="932688"/>
            <a:ext cx="3931920" cy="3182112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92040" y="932688"/>
            <a:ext cx="3931920" cy="329184"/>
          </a:xfrm>
          <a:prstGeom prst="rect">
            <a:avLst/>
          </a:prstGeom>
          <a:solidFill>
            <a:srgbClr val="D1FA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74920" y="96926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006: Prompt-Level Agents (Single Runtime)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029200" y="1353312"/>
            <a:ext cx="3657600" cy="2212848"/>
          </a:xfrm>
          <a:prstGeom prst="roundRect">
            <a:avLst>
              <a:gd name="adj" fmla="val 2066"/>
            </a:avLst>
          </a:prstGeom>
          <a:solidFill>
            <a:srgbClr val="F0FDF4"/>
          </a:solidFill>
          <a:ln w="9525">
            <a:solidFill>
              <a:srgbClr val="059669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5074920" y="137160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RUNTIME (Single Process)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120640" y="1554480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i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AutoResearchClaw Pipeline (23 Stages)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5120640" y="1755648"/>
            <a:ext cx="777240" cy="292608"/>
          </a:xfrm>
          <a:prstGeom prst="roundRect">
            <a:avLst>
              <a:gd name="adj" fmla="val 12500"/>
            </a:avLst>
          </a:prstGeom>
          <a:solidFill>
            <a:srgbClr val="EBF5FF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20640" y="176479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
</a:t>
            </a:r>
            <a:pPr algn="ctr" indent="0" marL="0">
              <a:buNone/>
            </a:pPr>
            <a:r>
              <a:rPr lang="en-US" sz="55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(decomposes)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5897880" y="180136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099048" y="1755648"/>
            <a:ext cx="868680" cy="292608"/>
          </a:xfrm>
          <a:prstGeom prst="roundRect">
            <a:avLst>
              <a:gd name="adj" fmla="val 12500"/>
            </a:avLst>
          </a:prstGeom>
          <a:solidFill>
            <a:srgbClr val="EBF5FF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099048" y="1764792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Agents
</a:t>
            </a:r>
            <a:pPr algn="ctr" indent="0" marL="0">
              <a:buNone/>
            </a:pPr>
            <a:r>
              <a:rPr lang="en-US" sz="55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(parallel MCP)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6967728" y="180136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7168896" y="1755648"/>
            <a:ext cx="1463040" cy="292608"/>
          </a:xfrm>
          <a:prstGeom prst="roundRect">
            <a:avLst>
              <a:gd name="adj" fmla="val 12500"/>
            </a:avLst>
          </a:prstGeom>
          <a:solidFill>
            <a:srgbClr val="FEF3C7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168896" y="176479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 · Bear · Base Case Debate
</a:t>
            </a:r>
            <a:pPr algn="ctr" indent="0" marL="0">
              <a:buNone/>
            </a:pPr>
            <a:r>
              <a:rPr lang="en-US" sz="55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 LLM personas → thesis merge)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5486400" y="2084832"/>
            <a:ext cx="3200400" cy="182880"/>
          </a:xfrm>
          <a:prstGeom prst="roundRect">
            <a:avLst>
              <a:gd name="adj" fmla="val 15000"/>
            </a:avLst>
          </a:prstGeom>
          <a:solidFill>
            <a:srgbClr val="FEF2F2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86400" y="2084832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HITL GATE 1 — analyst approves/refines thesis</a:t>
            </a:r>
            <a:endParaRPr lang="en-US" sz="600" dirty="0"/>
          </a:p>
        </p:txBody>
      </p:sp>
      <p:sp>
        <p:nvSpPr>
          <p:cNvPr id="51" name="Shape 49"/>
          <p:cNvSpPr/>
          <p:nvPr/>
        </p:nvSpPr>
        <p:spPr>
          <a:xfrm>
            <a:off x="5120640" y="2304288"/>
            <a:ext cx="1097280" cy="292608"/>
          </a:xfrm>
          <a:prstGeom prst="roundRect">
            <a:avLst>
              <a:gd name="adj" fmla="val 12500"/>
            </a:avLst>
          </a:prstGeom>
          <a:solidFill>
            <a:srgbClr val="F3E8FF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120640" y="231343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CodeAgent
</a:t>
            </a:r>
            <a:pPr algn="ctr" indent="0" marL="0">
              <a:buNone/>
            </a:pPr>
            <a:r>
              <a:rPr lang="en-US" sz="5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(DCF, comps, Monte Carlo)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6217920" y="235000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5486400" y="2633472"/>
            <a:ext cx="3200400" cy="182880"/>
          </a:xfrm>
          <a:prstGeom prst="roundRect">
            <a:avLst>
              <a:gd name="adj" fmla="val 15000"/>
            </a:avLst>
          </a:prstGeom>
          <a:solidFill>
            <a:srgbClr val="FEF2F2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486400" y="2633472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HITL GATE 2 — analyst reviews assumptions</a:t>
            </a:r>
            <a:endParaRPr lang="en-US" sz="600" dirty="0"/>
          </a:p>
        </p:txBody>
      </p:sp>
      <p:sp>
        <p:nvSpPr>
          <p:cNvPr id="56" name="Shape 54"/>
          <p:cNvSpPr/>
          <p:nvPr/>
        </p:nvSpPr>
        <p:spPr>
          <a:xfrm>
            <a:off x="5120640" y="2852928"/>
            <a:ext cx="1005840" cy="292608"/>
          </a:xfrm>
          <a:prstGeom prst="roundRect">
            <a:avLst>
              <a:gd name="adj" fmla="val 12500"/>
            </a:avLst>
          </a:prstGeom>
          <a:solidFill>
            <a:srgbClr val="EBF5FF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120640" y="286207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
</a:t>
            </a:r>
            <a:pPr algn="ctr" indent="0" marL="0">
              <a:buNone/>
            </a:pPr>
            <a:r>
              <a:rPr lang="en-US" sz="55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(logic check)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6126480" y="289864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327648" y="2852928"/>
            <a:ext cx="1371600" cy="292608"/>
          </a:xfrm>
          <a:prstGeom prst="roundRect">
            <a:avLst>
              <a:gd name="adj" fmla="val 12500"/>
            </a:avLst>
          </a:prstGeom>
          <a:solidFill>
            <a:srgbClr val="FEF2F2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327648" y="286207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Anti-Fabrication Sentinel
</a:t>
            </a:r>
            <a:pPr algn="ctr" indent="0" marL="0">
              <a:buNone/>
            </a:pPr>
            <a:r>
              <a:rPr lang="en-US" sz="55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(verifies claims vs data)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>
            <a:off x="7699248" y="289864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7900416" y="2871216"/>
            <a:ext cx="786384" cy="256032"/>
          </a:xfrm>
          <a:prstGeom prst="roundRect">
            <a:avLst>
              <a:gd name="adj" fmla="val 10714"/>
            </a:avLst>
          </a:prstGeom>
          <a:solidFill>
            <a:srgbClr val="FEF2F2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900416" y="2871216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HITL GATE 3
</a:t>
            </a:r>
            <a:pPr algn="ctr" indent="0" marL="0">
              <a:buNone/>
            </a:pPr>
            <a:r>
              <a:rPr lang="en-US" sz="5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approval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5074920" y="365760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Runtime  ·  1 Process  ·  All Agents = LLM Personas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5074920" y="3840480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6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Shared fate — if runtime dies, all agents die
</a:t>
            </a:r>
            <a:pPr algn="l" indent="0" marL="0">
              <a:lnSpc>
                <a:spcPct val="105000"/>
              </a:lnSpc>
              <a:buNone/>
            </a:pPr>
            <a:r>
              <a:rPr lang="en-US" sz="6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Zero inter-agent latency (in-process)
</a:t>
            </a:r>
            <a:pPr algn="l" indent="0" marL="0">
              <a:lnSpc>
                <a:spcPct val="105000"/>
              </a:lnSpc>
              <a:buNone/>
            </a:pPr>
            <a:r>
              <a:rPr lang="en-US" sz="6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Single deployment, pipeline orchestration</a:t>
            </a:r>
            <a:endParaRPr lang="en-US" sz="650" dirty="0"/>
          </a:p>
        </p:txBody>
      </p:sp>
      <p:sp>
        <p:nvSpPr>
          <p:cNvPr id="66" name="Shape 64"/>
          <p:cNvSpPr/>
          <p:nvPr/>
        </p:nvSpPr>
        <p:spPr>
          <a:xfrm>
            <a:off x="320040" y="4187952"/>
            <a:ext cx="8503920" cy="640080"/>
          </a:xfrm>
          <a:prstGeom prst="roundRect">
            <a:avLst>
              <a:gd name="adj" fmla="val 8571"/>
            </a:avLst>
          </a:prstGeom>
          <a:solidFill>
            <a:srgbClr val="CFFAFE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02920" y="4242816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DIFFERENCE: 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005 places agent boundaries at the infrastructure level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separate deployments, HTTP latency (~100-500ms), independent failure and scaling. 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006 places agent boundaries at the prompt level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shared fate, zero inter-agent latency, single deployment. Neither uses A2A; both are hub-and-spoke.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005 vs 006: Architecture Decision Brief</dc:title>
  <dc:subject>PptxGenJS Presentation</dc:subject>
  <dc:creator>Architecture Decision Team</dc:creator>
  <cp:lastModifiedBy>Architecture Decision Team</cp:lastModifiedBy>
  <cp:revision>1</cp:revision>
  <dcterms:created xsi:type="dcterms:W3CDTF">2026-04-08T11:46:57Z</dcterms:created>
  <dcterms:modified xsi:type="dcterms:W3CDTF">2026-04-08T11:46:57Z</dcterms:modified>
</cp:coreProperties>
</file>