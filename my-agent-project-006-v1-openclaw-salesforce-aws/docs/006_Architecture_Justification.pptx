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6972300"/>
          </a:xfrm>
          <a:prstGeom prst="rect">
            <a:avLst/>
          </a:prstGeom>
          <a:solidFill>
            <a:srgbClr val="1A274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274320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01168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Justification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FSI Enterprise Would Build This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  |  Based on Project 006 Design Documents, Tech Stack Assessment &amp; Evaluation Strategy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icon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85800" y="1737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analyst time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data gathering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formatting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0515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icon_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0440" y="1234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 min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520440" y="1737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 meeting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 for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advisors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0515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icon_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1234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355080" y="1737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trades manually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High-value professionals doing low-value work across disconnected systems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CRM, market data terminals, regulatory filing databases, news feeds, and trading systems all operate in silos. No single vendor covers it all: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Salesforce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owns CRM but can't run financial models.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AWS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has compute but no CRM.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Agentforce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has a trust layer but can't orchestrate a 23-stage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Deciding Factors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188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pic>
        <p:nvPicPr>
          <p:cNvPr id="10" name="Image 0" descr="icon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" y="12344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1612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Reach is Non-Negotiable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28800" y="155448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use WhatsApp. Analysts live in Slack and Discord. Agentforce supports ~5 channels; OpenClaw supports 12+. The agent must meet users where they are.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pic>
        <p:nvPicPr>
          <p:cNvPr id="15" name="Image 1" descr="icon_4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5880" y="29718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2898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Battle-Tested Research Pipeline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828800" y="32918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AutoResearchClaw is a 23-stage pipeline with HITL co-pilot, self-healing, anti-fabrication, multi-agent debate, and cross-run learning. Building from scratch takes months; adapting for FSI takes weeks.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Deciding Factors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pic>
        <p:nvPicPr>
          <p:cNvPr id="10" name="Image 0" descr="icon_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0160" y="12801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1247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FINRA 2026 Demands AI Auditability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783080" y="1463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audit layers: Langfuse traces, IR_Audit_Log__c in Salesforce, Einstein Trust Layer logs. HITL gates at every critical decision point. Every action logged with full provenance.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pic>
        <p:nvPicPr>
          <p:cNvPr id="15" name="Image 1" descr="icon_6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160" y="24688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83080" y="2313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Lock-In Avoidance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783080" y="2651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is MIT-licensed. Skills, MCP servers, and Salesforce integration are all portable. If the enterprise swaps the agent runtime in 2 years, MCP servers, financial models, and CRM objects all survive.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008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pic>
        <p:nvPicPr>
          <p:cNvPr id="20" name="Image 2" descr="icon_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0160" y="36576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3502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Leverages Existing Investments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783080" y="3840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already owns Salesforce and AWS. OpenClaw is free and the only new piece. The architecture builds on existing investments rather than requiring new platform purchases.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Value Proposition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4173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9" name="Image 0" descr="icon_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344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 Productivity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1965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reclaimed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20240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on NVIDIA that took a full day now takes minutes with analyst oversight at 3 HITL gates.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143000"/>
            <a:ext cx="54864" cy="14173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6" name="Image 1" descr="icon_9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040" y="12344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Automation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9204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892040" y="1965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126480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MNPI screening, restricted list checks, and trading window enforcement baked into every query path.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28346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92608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3" name="Image 2" descr="icon_10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301752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Cross-Run Learning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8580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MetaClaw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685800" y="3749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time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92024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research brief makes the next one better through accumulated contextual learning.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663440" y="28346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63440" y="292608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icon_11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2040" y="301752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035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Delivery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489204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phases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4892040" y="3749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12648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independently valuable. If Phase 3 fails, Phases 1-2 still work as a CRM-connected agent.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19786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1430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channel coverage (12+ vs 5–6 on Agentforce)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02082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19659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23-stage research pipeline with anti-fabrication and citation verification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84378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 (MIT license, portable skills and MCP servers)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6667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61188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custom security code — Bedrock Guardrails + SF Models API handle it via config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19786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1430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trust layer (Bedrock Guardrails for LLM calls, Einstein Trust Layer for CRM reasoning)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02082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19659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zero idle cost deployment on AgentCore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84378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reproducible environment (git clone → deploy → done)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6667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61188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evaluation strategy purpose-built for finance (numerical precision, temporal correctness, compliance hard gates)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 &amp; Trade-offs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2471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399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platforms (OpenClaw, Salesforce, AWS, MuleSoft) means more integration surface area, more failure modes, more expertise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9339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65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Native Einstein Trust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2677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fill the gap for the agent runtime, but it's two systems instead of one unified trust layer.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6207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Native CRM Depth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1363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works but you lose CdpQuery, Data Cloud vector search, and native Platform Event subscriptions.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3075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Governance Gap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has no built-in RBAC, no SF permission sets, no sharing rules. Enforcement must happen at the Salesforce layer.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 &amp; Trade-offs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1247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Risk for Regulated Firms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open-source agent handling client data requires significant security hardening and internal approval processes.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219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 Team Skill Requirements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TypeScript (OpenClaw), Python (MCP servers, financial models), Apex (Salesforce), and AWS infrastructure expertise.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AutoResearchClaw Origin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academic — FSI adaptation (replacing literature skills with financial data, adding compliance gates) is medium effort with upstream divergence risk.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This Architecture Makes Sense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Project 006 when you need:</a:t>
            </a:r>
            <a:endParaRPr lang="en-US" sz="1600" dirty="0"/>
          </a:p>
        </p:txBody>
      </p:sp>
      <p:pic>
        <p:nvPicPr>
          <p:cNvPr id="8" name="Image 0" descr="icon_1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5544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reach beyond what Agentforce offers</a:t>
            </a:r>
            <a:endParaRPr lang="en-US" sz="1200" dirty="0"/>
          </a:p>
        </p:txBody>
      </p:sp>
      <p:pic>
        <p:nvPicPr>
          <p:cNvPr id="10" name="Image 1" descr="icon_13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057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avoidance is a strategic priority</a:t>
            </a:r>
            <a:endParaRPr lang="en-US" sz="1200" dirty="0"/>
          </a:p>
        </p:txBody>
      </p:sp>
      <p:pic>
        <p:nvPicPr>
          <p:cNvPr id="12" name="Image 2" descr="icon_14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existing AWS and Salesforce investments</a:t>
            </a:r>
            <a:endParaRPr lang="en-US" sz="1200" dirty="0"/>
          </a:p>
        </p:txBody>
      </p:sp>
      <p:pic>
        <p:nvPicPr>
          <p:cNvPr id="14" name="Image 3" descr="icon_15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structured research pipeline, not just a chatbot</a:t>
            </a:r>
            <a:endParaRPr lang="en-US" sz="1200" dirty="0"/>
          </a:p>
        </p:txBody>
      </p:sp>
      <p:pic>
        <p:nvPicPr>
          <p:cNvPr id="16" name="Image 4" descr="icon_16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" y="356616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can manage a multi-platform system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486400" y="1005840"/>
            <a:ext cx="3200400" cy="3383280"/>
          </a:xfrm>
          <a:prstGeom prst="roundRect">
            <a:avLst>
              <a:gd name="adj" fmla="val 4286"/>
            </a:avLst>
          </a:prstGeom>
          <a:solidFill>
            <a:srgbClr val="1A2744"/>
          </a:solidFill>
          <a:ln/>
        </p:spPr>
      </p:sp>
      <p:sp>
        <p:nvSpPr>
          <p:cNvPr id="19" name="Text 12"/>
          <p:cNvSpPr/>
          <p:nvPr/>
        </p:nvSpPr>
        <p:spPr>
          <a:xfrm>
            <a:off x="57607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 the Alternative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760720" y="173736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If the firm only needs CRM-native agents accessible through Salesforce UI and Slack, the simpler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</a:rPr>
              <a:t>Agentforce + Strands pattern (Project 005)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is the safer bet.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006 is for firms that have outgrown that model.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Glance: Pros vs Cons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— Architecture Justification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60020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channel coverage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23-stage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29514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no lock-in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6426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custom security 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900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trust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zero idle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6850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reproducible env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03250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Finance-grade eval strategy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60020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Four-platform complexity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94767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trust systems vs 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29514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CRM depth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6426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RBAC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9900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needed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3375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skill requirements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6850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divergence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1005840"/>
            <a:ext cx="0" cy="35204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6057900"/>
          </a:xfrm>
          <a:prstGeom prst="rect">
            <a:avLst/>
          </a:prstGeom>
          <a:solidFill>
            <a:srgbClr val="1A274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 is the right architecture for FSI enterprises that need: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agent reach beyond CRM-native limitations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auditable research pipeline (not just a chatbot)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FINRA 2026-ready compliance with three audit layers and HITL gates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Vendor-neutral, portable architecture built on existing investments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6-phase delivery with standalone value at each stage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54864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firms that have outgrown the CRM-native model, Project 006 delivers the scale, auditability, and channel reach that the next generation of FSI agents demands.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006: Architecture Justification</dc:title>
  <dc:subject>PptxGenJS Presentation</dc:subject>
  <dc:creator>Architecture Team</dc:creator>
  <cp:lastModifiedBy>Architecture Team</cp:lastModifiedBy>
  <cp:revision>1</cp:revision>
  <dcterms:created xsi:type="dcterms:W3CDTF">2026-04-08T09:29:59Z</dcterms:created>
  <dcterms:modified xsi:type="dcterms:W3CDTF">2026-04-08T09:29:59Z</dcterms:modified>
</cp:coreProperties>
</file>