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0-2.svg" ContentType="image/svg+xml"/>
  <Override PartName="/ppt/media/image-2-10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5-10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2.svg" ContentType="image/svg+xml"/>
  <Override PartName="/ppt/media/image-6-4.svg" ContentType="image/svg+xml"/>
  <Override PartName="/ppt/media/image-7-10.svg" ContentType="image/svg+xml"/>
  <Override PartName="/ppt/media/image-7-12.svg" ContentType="image/svg+xml"/>
  <Override PartName="/ppt/media/image-7-14.svg" ContentType="image/svg+xml"/>
  <Override PartName="/ppt/media/image-7-16.svg" ContentType="image/svg+xml"/>
  <Override PartName="/ppt/media/image-7-18.svg" ContentType="image/svg+xml"/>
  <Override PartName="/ppt/media/image-7-2.svg" ContentType="image/svg+xml"/>
  <Override PartName="/ppt/media/image-7-20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18"/>
    <p:sldId id="268" r:id="rId19"/>
    <p:sldId id="258" r:id="rId4"/>
    <p:sldId id="266" r:id="rId17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4.xml"/><Relationship Id="rId1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Calibri"/>
              </a:rPr>
              <a:t>Lines of Code by Layer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005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Total Code</c:v>
                  </c:pt>
                  <c:pt idx="1">
                    <c:v>Apex</c:v>
                  </c:pt>
                  <c:pt idx="2">
                    <c:v>Python</c:v>
                  </c:pt>
                  <c:pt idx="3">
                    <c:v>TypeScript</c:v>
                  </c:pt>
                  <c:pt idx="4">
                    <c:v>Config (YAML/JSON/XML)</c:v>
                  </c:pt>
                  <c:pt idx="5">
                    <c:v>Skills (SKILL.md)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16590</c:v>
                </c:pt>
                <c:pt idx="1">
                  <c:v>3971</c:v>
                </c:pt>
                <c:pt idx="2">
                  <c:v>4570</c:v>
                </c:pt>
                <c:pt idx="3">
                  <c:v>3255</c:v>
                </c:pt>
                <c:pt idx="4">
                  <c:v>3830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006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Total Code</c:v>
                  </c:pt>
                  <c:pt idx="1">
                    <c:v>Apex</c:v>
                  </c:pt>
                  <c:pt idx="2">
                    <c:v>Python</c:v>
                  </c:pt>
                  <c:pt idx="3">
                    <c:v>TypeScript</c:v>
                  </c:pt>
                  <c:pt idx="4">
                    <c:v>Config (YAML/JSON/XML)</c:v>
                  </c:pt>
                  <c:pt idx="5">
                    <c:v>Skills (SKILL.md)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7870</c:v>
                </c:pt>
                <c:pt idx="1">
                  <c:v>0</c:v>
                </c:pt>
                <c:pt idx="2">
                  <c:v>3032</c:v>
                </c:pt>
                <c:pt idx="3">
                  <c:v>2802</c:v>
                </c:pt>
                <c:pt idx="4">
                  <c:v>1744</c:v>
                </c:pt>
                <c:pt idx="5">
                  <c:v>746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1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F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14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005 vs 006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Agent Platform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Financial Services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059669">
              <a:alpha val="15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005: Agentforce + Strands + AWS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3520440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EA580C">
              <a:alpha val="15000"/>
            </a:srgbClr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006: OpenClaw + Salesforce +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  |  For Executive Decision Makers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Viable Paths, One Strategic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pic>
        <p:nvPicPr>
          <p:cNvPr id="5" name="Image 0" descr="ic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are production-ready. The choice depends on whether regulatory simplicity or multi-channel innovation drives greater business value for your organization.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icon_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350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 Evaluated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3444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(Agentforce-native) prioritizes built-in compliance; 006 (OpenClaw-based) prioritizes flexibility and reach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2240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icon_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760" y="24231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2350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Factors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4924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enforcement model, channel reach requirements, vendor lock-in tolerance, team capabilities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icon_3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8404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Production-Ready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344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delivers a functional FSI agent platform with different trade-off profiles and risk postures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54880" y="3657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icon_4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37760" y="38404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Provided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3492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criteria matrix to align architecture choice with your strategic priorities and risk appetite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 Is in the Connections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vs Point Solutions: 4 unique patterns commercial tools lack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52144"/>
            <a:ext cx="45720" cy="9692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161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CRM-Connected Agent Loop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personalized to client holdings, writes back to CRM, logs audit trail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52144"/>
            <a:ext cx="45720" cy="9692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21615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1704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Compliance-Native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4630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restricted lists, MNPI flags, trading windows, concentration limits before every action — not bolted on afterward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77440"/>
            <a:ext cx="45720" cy="9692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441448"/>
            <a:ext cx="320040" cy="3200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Execution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2414016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41401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only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26883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submits trades, initiates wires, runs KYC screening — not just recommendations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77440"/>
            <a:ext cx="45720" cy="9692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441448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Reach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01000" y="2414016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241401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only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49240" y="26883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at 6am for meeting prep with full portfolio context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364992"/>
            <a:ext cx="8503920" cy="1572768"/>
          </a:xfrm>
          <a:prstGeom prst="roundRect">
            <a:avLst>
              <a:gd name="adj" fmla="val 5814"/>
            </a:avLst>
          </a:prstGeom>
          <a:solidFill>
            <a:srgbClr val="1A1F36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PROPOSITION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71246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do research.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005/006 do research + compliance + execution + CRM integration.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 proposition is the integration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research connected to client data connected to compliance connected to execution.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97280" y="455371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" y="4553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68880" y="4553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971800" y="455371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2971800" y="4553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43400" y="4553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46320" y="455371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553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0" y="4553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720840" y="455371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4553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Landscape: Proven Demand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major players proving market demand for AI-powered financial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35608"/>
            <a:ext cx="1298448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AlphaSense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$4B+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41448"/>
            <a:ext cx="1115568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1460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documents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20824" y="132588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57984" y="1435608"/>
            <a:ext cx="1298448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020824" y="1554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Hebbia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20824" y="182880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$700M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20824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49424" y="2441448"/>
            <a:ext cx="1115568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Text 16"/>
          <p:cNvSpPr/>
          <p:nvPr/>
        </p:nvSpPr>
        <p:spPr>
          <a:xfrm>
            <a:off x="2093976" y="251460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90%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finance/legal 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75888" y="132588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13048" y="1435608"/>
            <a:ext cx="1298448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1554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Brightwave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75888" y="182880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675888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04488" y="2441448"/>
            <a:ext cx="1115568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51460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Buy-side research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knowledge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30952" y="132588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68112" y="1435608"/>
            <a:ext cx="1298448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5330952" y="1554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Kensho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30952" y="182880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330952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59552" y="2441448"/>
            <a:ext cx="1115568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Text 30"/>
          <p:cNvSpPr/>
          <p:nvPr/>
        </p:nvSpPr>
        <p:spPr>
          <a:xfrm>
            <a:off x="5404104" y="251460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86016" y="132588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23176" y="1435608"/>
            <a:ext cx="1298448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6986016" y="1554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FilingsIQ.ai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86016" y="182880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86016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14616" y="2441448"/>
            <a:ext cx="1115568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9" name="Text 37"/>
          <p:cNvSpPr/>
          <p:nvPr/>
        </p:nvSpPr>
        <p:spPr>
          <a:xfrm>
            <a:off x="7059168" y="251460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analysis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RIAs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(point solution)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★  </a:t>
            </a:r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Well-funded competitors validate market demand for AI-powered financial research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Platform Is Structured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005: Agentforce + Strands + 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/ Slack /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19456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28600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Reasoning Engine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3464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Queries, MCP Callouts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29184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383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(Lambda)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84048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9319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TRUST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Toxicity, Audit Trail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438912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4805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AWS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Compute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983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  •  ~16,590 Lines of Code  •  5 Channels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006: OpenClaw + Salesforce + AWS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7373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WhatsApp / Telegram / Discord / Web /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219456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28600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Orchestration (AgentCore)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274320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83464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SF-API / Python Sandbox / AutoResearchClaw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29184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383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MULESOFT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EDGAR, Market Data, Trade Execution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384048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9319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TRUST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+ Einstein via SF Models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20840" y="438912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4805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AWS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Audit + Compute + LLM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4983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 •  ~7,870 Lines of Code  •  12+ Channels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1325880"/>
            <a:ext cx="0" cy="3794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Patterns: Infrastructure vs Prompt Level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32688"/>
            <a:ext cx="39319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3931920" cy="329184"/>
          </a:xfrm>
          <a:prstGeom prst="rect">
            <a:avLst/>
          </a:prstGeom>
          <a:solidFill>
            <a:srgbClr val="FFF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9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005: Infrastructure-Level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508760" cy="1280160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ORG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4360" y="1591056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093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
</a:t>
            </a:r>
            <a:pPr algn="ctr" indent="0" marL="0">
              <a:buNone/>
            </a:pPr>
            <a:r>
              <a:rPr lang="en-US" sz="6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(Apex / Atlas Engine)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2139696"/>
            <a:ext cx="1325880" cy="402336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57984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
</a:t>
            </a:r>
            <a:pPr algn="ctr" indent="0" marL="0">
              <a:buNone/>
            </a:pPr>
            <a:r>
              <a:rPr lang="en-US" sz="6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SOQL · FLS · Sharing Rules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21408" y="1444752"/>
            <a:ext cx="347472" cy="10972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71907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2103120" y="184708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10312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103120" y="22311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1353312"/>
            <a:ext cx="1508760" cy="1280160"/>
          </a:xfrm>
          <a:prstGeom prst="roundRect">
            <a:avLst>
              <a:gd name="adj" fmla="val 3571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606040" y="13716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(Lambda)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651760" y="1591056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16093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
</a:t>
            </a:r>
            <a:pPr algn="ctr" indent="0" marL="0">
              <a:buNone/>
            </a:pPr>
            <a:r>
              <a:rPr lang="en-US" sz="6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(Strands/Lambda)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51760" y="2139696"/>
            <a:ext cx="132588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157984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
</a:t>
            </a:r>
            <a:pPr algn="ctr" indent="0" marL="0">
              <a:buNone/>
            </a:pPr>
            <a:r>
              <a:rPr lang="en-US" sz="6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(Strands/Lambda)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2920" y="27614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 ·  2 Runtimes  ·  HTTP Boundaries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992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(Apex)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481328" y="30540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→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048256" y="2980944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8256" y="29992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(Python)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026664" y="30540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→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593592" y="2980944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9992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(Python)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02920" y="341985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deployments, independent failure
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latency ~100-500ms per call
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agent scales independently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892040" y="932688"/>
            <a:ext cx="39319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932688"/>
            <a:ext cx="39319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969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006: Prompt-Level Agents (Single Runtime)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1353312"/>
            <a:ext cx="3657600" cy="2212848"/>
          </a:xfrm>
          <a:prstGeom prst="roundRect">
            <a:avLst>
              <a:gd name="adj" fmla="val 2066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07492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RUNTIME (Single Process)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20640" y="15544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AutoResearchClaw Pipeline (23 Stages)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120640" y="175564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17647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(decomposes)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97880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99048" y="1755648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9048" y="17647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Agents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 MCP)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67728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68896" y="175564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68896" y="17647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· Bear · Base Case Debate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LLM personas → thesis merge)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486400" y="2084832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HITL GATE 1 — analyst approves/refines thesis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5120640" y="2304288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2313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CodeAgent
</a:t>
            </a:r>
            <a:pPr algn="ctr" indent="0" marL="0">
              <a:buNone/>
            </a:pPr>
            <a:r>
              <a:rPr lang="en-US" sz="5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(DCF, comps, Monte Carlo)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17920" y="23500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0" y="2633472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2633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HITL GATE 2 — analyst reviews assumptions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5120640" y="285292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2862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(logic check)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2648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27648" y="2852928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2862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Anti-Fabrication Sentinel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(verifies claims vs data)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699248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900416" y="2871216"/>
            <a:ext cx="786384" cy="256032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0416" y="287121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HITL GATE 3
</a:t>
            </a:r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074920" y="3657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Runtime  ·  1 Process  ·  All Agents = LLM Personas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074920" y="38404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fate — if runtime dies, all agents die
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inter-agent latency (in-process)
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deployment, pipeline orchestration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20040" y="4187952"/>
            <a:ext cx="8503920" cy="640080"/>
          </a:xfrm>
          <a:prstGeom prst="roundRect">
            <a:avLst>
              <a:gd name="adj" fmla="val 8571"/>
            </a:avLst>
          </a:prstGeom>
          <a:solidFill>
            <a:srgbClr val="CFFAFE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424281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places agent boundaries at the infrastructure level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separate deployments, HTTP latency (~100-500ms), independent failure and scaling. 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places agent boundaries at the prompt level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shared fate, zero inter-agent latency, single deployment. Neither uses A2A; both are hub-and-spoke.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Feature-by-Feature Breakdown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56032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(Web, Slack, Messaging, Voice, API)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(+WhatsApp, Telegram, Discord, iMessage)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topics &amp;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23-stage AutoResearchClaw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HITL, self-healing, debate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Strands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Lambda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Python sandbox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(numpy, pandas, scipy)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&amp;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Session-only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cross-session memory)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per-user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cross-session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SOQL, CdpQuery,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Cloud vector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(loses native CRM features)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Einstein Trust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(integrated, automatic)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layer: Bedrock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Einstein via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Independence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Salesforce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(proprietary Apex + bundles)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MIT-licensed OpenClaw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(fully portable)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CFFAF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leads on capability breadth (5 of 7 categories)  •  005 leads on compliance depth and CRM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Differentiator for FSI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BUILT-IN COMPLIANCE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icon_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9202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Trust Layer covers PII masking, toxicity detection, and audit trail automatically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icon_6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6060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and MNPI controls enforced in compiled Apex code — not prompt-based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icon_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32918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sharing rules, field-level security, and permission sets apply to all agent actions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icon_8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9776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integrated compliance layer — one system to audit, one vendor responsible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754880" y="12801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19" name="Text 13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SECURITY AUDIT FINDINGS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846320" y="1783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937760" y="19202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F#7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544068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MNPI filtering is prompt-based — LLM instructions, not compiled enforcement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846320" y="24688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937760" y="26060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F#13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4068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 rely on LLM following SKILL.md instructions to pause for approval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846320" y="31546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37760" y="32918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F#2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4406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bearer token bundled into frontend JavaScript — exposed in browser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846320" y="38404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37760" y="39776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F#12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44068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without encryption or integrity checks — poisoning risk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/>
        </p:spPr>
      </p:sp>
      <p:pic>
        <p:nvPicPr>
          <p:cNvPr id="33" name="Image 4" descr="icon_9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" y="44622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51560" y="43708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006 shifts compliance from platform-enforced to team-implemented. This means additional development, testing, and audit cost that 005 avoids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TRADE-OFFS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Trade-off: Safety vs Flexibility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3D446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686861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4725619" y="1463040"/>
            <a:ext cx="3686861" cy="411480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1331" y="1965960"/>
            <a:ext cx="457200" cy="292608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1811" y="1965960"/>
            <a:ext cx="457200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794760" cy="2423160"/>
          </a:xfrm>
          <a:prstGeom prst="roundRect">
            <a:avLst>
              <a:gd name="adj" fmla="val 3774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2" name="Image 0" descr="icon_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5146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005: Safety First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971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compliance — zero custom security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Salesforce support on agent layer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platforms (2) — simpler to operate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 approval pathway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Limited channels, vendor lock-in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331720"/>
            <a:ext cx="3794760" cy="2423160"/>
          </a:xfrm>
          <a:prstGeom prst="roundRect">
            <a:avLst>
              <a:gd name="adj" fmla="val 3774"/>
            </a:avLst>
          </a:prstGeom>
          <a:solidFill>
            <a:srgbClr val="EA580C">
              <a:alpha val="15000"/>
            </a:srgbClr>
          </a:solidFill>
          <a:ln w="19050">
            <a:solidFill>
              <a:srgbClr val="EA580C"/>
            </a:solidFill>
            <a:prstDash val="solid"/>
          </a:ln>
        </p:spPr>
      </p:sp>
      <p:pic>
        <p:nvPicPr>
          <p:cNvPr id="16" name="Image 1" descr="icon_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006: Flexibility First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83480" y="2971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channels — meet users wherever they 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23-stage research pipeline (unmatched)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fully portable, no lock-in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pay-per-use on AgentCore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Must build compliance controls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Your Priorities to the Right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005 IF...</a:t>
            </a:r>
            <a:endParaRPr lang="en-US" sz="1300" dirty="0"/>
          </a:p>
        </p:txBody>
      </p:sp>
      <p:pic>
        <p:nvPicPr>
          <p:cNvPr id="7" name="Image 0" descr="icon_1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8745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28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CRM-centric workflows dominate your use cases</a:t>
            </a:r>
            <a:endParaRPr lang="en-US" sz="1100" dirty="0"/>
          </a:p>
        </p:txBody>
      </p:sp>
      <p:pic>
        <p:nvPicPr>
          <p:cNvPr id="9" name="Image 1" descr="icon_13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3317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 simplicity is critical priority</a:t>
            </a:r>
            <a:endParaRPr lang="en-US" sz="1100" dirty="0"/>
          </a:p>
        </p:txBody>
      </p:sp>
      <p:pic>
        <p:nvPicPr>
          <p:cNvPr id="11" name="Image 2" descr="icon_14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27889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custom security code is essential</a:t>
            </a:r>
            <a:endParaRPr lang="en-US" sz="1100" dirty="0"/>
          </a:p>
        </p:txBody>
      </p:sp>
      <p:pic>
        <p:nvPicPr>
          <p:cNvPr id="13" name="Image 3" descr="icon_15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24612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on agent layer is required</a:t>
            </a:r>
            <a:endParaRPr lang="en-US" sz="1100" dirty="0"/>
          </a:p>
        </p:txBody>
      </p:sp>
      <p:pic>
        <p:nvPicPr>
          <p:cNvPr id="15" name="Image 4" descr="icon_16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" y="370332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657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 is primarily Salesforce-focused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12344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2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006 IF...</a:t>
            </a:r>
            <a:endParaRPr lang="en-US" sz="1300" dirty="0"/>
          </a:p>
        </p:txBody>
      </p:sp>
      <p:pic>
        <p:nvPicPr>
          <p:cNvPr id="20" name="Image 5" descr="icon_17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83480" y="18745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1828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reach (WhatsApp, Telegram) is strategic</a:t>
            </a:r>
            <a:endParaRPr lang="en-US" sz="1100" dirty="0"/>
          </a:p>
        </p:txBody>
      </p:sp>
      <p:pic>
        <p:nvPicPr>
          <p:cNvPr id="22" name="Image 6" descr="icon_18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83480" y="233172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research automation drives core value</a:t>
            </a:r>
            <a:endParaRPr lang="en-US" sz="1100" dirty="0"/>
          </a:p>
        </p:txBody>
      </p:sp>
      <p:pic>
        <p:nvPicPr>
          <p:cNvPr id="24" name="Image 7" descr="icon_19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83480" y="278892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0352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vendor lock-in is a board-level concern</a:t>
            </a:r>
            <a:endParaRPr lang="en-US" sz="1100" dirty="0"/>
          </a:p>
        </p:txBody>
      </p:sp>
      <p:pic>
        <p:nvPicPr>
          <p:cNvPr id="26" name="Image 8" descr="icon_20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83480" y="324612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035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 capacity for custom security implementation</a:t>
            </a:r>
            <a:endParaRPr lang="en-US" sz="1100" dirty="0"/>
          </a:p>
        </p:txBody>
      </p:sp>
      <p:pic>
        <p:nvPicPr>
          <p:cNvPr id="28" name="Image 9" descr="icon_21.sv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83480" y="370332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03520" y="3657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financial modeling in-agent is needed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FFAFE"/>
          </a:solidFill>
          <a:ln/>
        </p:spPr>
      </p:sp>
      <p:sp>
        <p:nvSpPr>
          <p:cNvPr id="31" name="Text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Question: Does the value of 12+ channels and a 23-stage research pipeline justify the cost of rebuilding the compliance enforcement that Salesforce provides natively?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COMPLEXITY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of Ownership Considerations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2344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280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23560" y="15270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4904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AI consumption credits — can be significant at scale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23560" y="17647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17282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pay-per-use on AgentCore — zero idle cost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2194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BUILD COST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23560" y="24414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4048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compliance is built into the platform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23560" y="26791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2642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must implement and audit custom controls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0" y="30632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23560" y="33558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5806440" y="33192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 to manage, monitor, and support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23560" y="35935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3557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(OpenClaw, SF, AWS, MuleSoft) to integrate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86400" y="39776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23560" y="4023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SKILLS NEEDED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23560" y="42702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3"/>
          <p:cNvSpPr/>
          <p:nvPr/>
        </p:nvSpPr>
        <p:spPr>
          <a:xfrm>
            <a:off x="5806440" y="42336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+ Python + TypeScript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23560" y="45079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8" name="Text 25"/>
          <p:cNvSpPr/>
          <p:nvPr/>
        </p:nvSpPr>
        <p:spPr>
          <a:xfrm>
            <a:off x="5806440" y="44714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Python + Apex + AWS infra (broader)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for Each Path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  <a:gridCol w="292608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 limits future flexibility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required if moving off Salesforce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channel expansion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reach WhatsApp/Telegram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agent runtimes to maintain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ops complexity, debug difficulty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audit findings need remediation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critical findings before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Four-platform integration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failure points, broader expertise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Prompt-based compliance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MNPI &amp; HITL rely on LLM 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poisoning (no encryption)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data integrity at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governance gap (no RBAC)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permission set equivalent at agent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carries 3 risks (1 High)  •  006 carries 5 risks (3 High)  —  006 requires more pre-production remediation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Path Forward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7" name="Image 0" descr="icon_2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are viable. We recommend a phased pilot approach to validate fit before full commitment.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5146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005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compliance-critical, CRM-centric use cases where regulatory audit simplicity is paramount. Leverage native trust layer.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3429000"/>
            <a:ext cx="228600" cy="0"/>
          </a:xfrm>
          <a:prstGeom prst="line">
            <a:avLst/>
          </a:prstGeom>
          <a:noFill/>
          <a:ln w="19050">
            <a:solidFill>
              <a:srgbClr val="7A7F96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342900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25146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2336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006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6616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for innovation channels (WhatsApp, Telegram) and research automation. Remediate security findings before production.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3429000"/>
            <a:ext cx="228600" cy="0"/>
          </a:xfrm>
          <a:prstGeom prst="line">
            <a:avLst/>
          </a:prstGeom>
          <a:noFill/>
          <a:ln w="19050">
            <a:solidFill>
              <a:srgbClr val="7A7F96"/>
            </a:solidFill>
            <a:prstDash val="solid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621792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25146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1228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 or Coexist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35508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pilot results, commit to one platform or run both for different use case segments within the organization.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Phase 1 (Weeks 1-8)  →  Phase 2 (Weeks 6-14, overlapping)  →  Decision Point (Week 16)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005 vs 006: Architecture Decision Brief</dc:title>
  <dc:subject>PptxGenJS Presentation</dc:subject>
  <dc:creator>Architecture Decision Team</dc:creator>
  <cp:lastModifiedBy>Architecture Decision Team</cp:lastModifiedBy>
  <cp:revision>1</cp:revision>
  <dcterms:created xsi:type="dcterms:W3CDTF">2026-04-08T11:46:57Z</dcterms:created>
  <dcterms:modified xsi:type="dcterms:W3CDTF">2026-04-08T11:46:57Z</dcterms:modified>
</cp:coreProperties>
</file>